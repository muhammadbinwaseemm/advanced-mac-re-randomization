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  <p:sldMasterId id="2147483812" r:id="rId2"/>
  </p:sldMasterIdLst>
  <p:notesMasterIdLst>
    <p:notesMasterId r:id="rId11"/>
  </p:notesMasterIdLst>
  <p:sldIdLst>
    <p:sldId id="256" r:id="rId3"/>
    <p:sldId id="257" r:id="rId4"/>
    <p:sldId id="260" r:id="rId5"/>
    <p:sldId id="258" r:id="rId6"/>
    <p:sldId id="259" r:id="rId7"/>
    <p:sldId id="262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DBE"/>
    <a:srgbClr val="74E277"/>
    <a:srgbClr val="ED69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10685-1F38-43E4-BF71-F5EE707292E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75A83-BBB4-468F-9F6F-EEE58029A4C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3598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5392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745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1873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974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984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4042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31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397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1829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76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0828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8734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1226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71068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30258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80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7837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745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273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513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434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2426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326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732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20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87456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1803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4276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1020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0269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31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90DAE-95C8-48C3-85B9-3FC4F4150F2A}" type="datetimeFigureOut">
              <a:rPr lang="en-PK" smtClean="0"/>
              <a:t>28/05/2026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DFC073-8AAF-4131-9D1E-88A6073FA5E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880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19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9E42-C813-668D-DBCC-835B40C40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849" y="2404534"/>
            <a:ext cx="8670154" cy="1646302"/>
          </a:xfrm>
        </p:spPr>
        <p:txBody>
          <a:bodyPr/>
          <a:lstStyle/>
          <a:p>
            <a:r>
              <a:rPr lang="en-US" dirty="0"/>
              <a:t>Enhancing Runtime Wi-Fi  MAC Re-randomization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B5BA3-B974-68CE-D9A2-2DA5D6C10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030790"/>
          </a:xfrm>
        </p:spPr>
        <p:txBody>
          <a:bodyPr>
            <a:normAutofit/>
          </a:bodyPr>
          <a:lstStyle/>
          <a:p>
            <a:r>
              <a:rPr lang="en-US" dirty="0"/>
              <a:t>Group Members </a:t>
            </a:r>
          </a:p>
          <a:p>
            <a:r>
              <a:rPr lang="en-US" dirty="0"/>
              <a:t>Muhammad Bin Waseem 2023403</a:t>
            </a:r>
          </a:p>
          <a:p>
            <a:r>
              <a:rPr lang="en-US" dirty="0"/>
              <a:t>Muhammad Shaheer 2023509 </a:t>
            </a:r>
          </a:p>
          <a:p>
            <a:r>
              <a:rPr lang="en-US" dirty="0"/>
              <a:t>Muhammad Zaeem Nawaz 2023550</a:t>
            </a:r>
          </a:p>
        </p:txBody>
      </p:sp>
    </p:spTree>
    <p:extLst>
      <p:ext uri="{BB962C8B-B14F-4D97-AF65-F5344CB8AC3E}">
        <p14:creationId xmlns:p14="http://schemas.microsoft.com/office/powerpoint/2010/main" val="1680648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8C05-0827-CA8E-12C7-5492CD64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CC092-B95C-DAB2-4A11-54716A9F7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6740"/>
            <a:ext cx="7509134" cy="13208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Wi-Fi devices continuously broadcast MAC addresses. </a:t>
            </a:r>
          </a:p>
          <a:p>
            <a:r>
              <a:rPr lang="en-US" dirty="0"/>
              <a:t>Passive attackers can track devices by their MAC addresses using monitor mode. </a:t>
            </a:r>
          </a:p>
          <a:p>
            <a:r>
              <a:rPr lang="en-US" dirty="0"/>
              <a:t>Traditional MAC randomization fails due to persistence.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9AE41-F736-ABCA-8C5E-83CC49402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757" y="5641675"/>
            <a:ext cx="714475" cy="847843"/>
          </a:xfrm>
          <a:prstGeom prst="rect">
            <a:avLst/>
          </a:prstGeom>
        </p:spPr>
      </p:pic>
      <p:pic>
        <p:nvPicPr>
          <p:cNvPr id="6" name="Content Placeholder 4" descr="Wireless router with solid fill">
            <a:extLst>
              <a:ext uri="{FF2B5EF4-FFF2-40B4-BE49-F238E27FC236}">
                <a16:creationId xmlns:a16="http://schemas.microsoft.com/office/drawing/2014/main" id="{2E8D0D0E-0E1A-74DB-D4DB-3B1D6E3408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0057" y="3364029"/>
            <a:ext cx="1212566" cy="1212566"/>
          </a:xfrm>
          <a:prstGeom prst="rect">
            <a:avLst/>
          </a:prstGeom>
        </p:spPr>
      </p:pic>
      <p:pic>
        <p:nvPicPr>
          <p:cNvPr id="7" name="Graphic 6" descr="Television with solid fill">
            <a:extLst>
              <a:ext uri="{FF2B5EF4-FFF2-40B4-BE49-F238E27FC236}">
                <a16:creationId xmlns:a16="http://schemas.microsoft.com/office/drawing/2014/main" id="{F95CF836-68A3-C88D-C9E8-B8E7F2E641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0233" y="3662195"/>
            <a:ext cx="914400" cy="9144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149261-989A-5EFE-9FEE-1FF961189289}"/>
              </a:ext>
            </a:extLst>
          </p:cNvPr>
          <p:cNvCxnSpPr/>
          <p:nvPr/>
        </p:nvCxnSpPr>
        <p:spPr>
          <a:xfrm>
            <a:off x="3131389" y="4037162"/>
            <a:ext cx="3348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396048-99E3-E1DD-5E40-41FDCC439454}"/>
              </a:ext>
            </a:extLst>
          </p:cNvPr>
          <p:cNvCxnSpPr>
            <a:cxnSpLocks/>
          </p:cNvCxnSpPr>
          <p:nvPr/>
        </p:nvCxnSpPr>
        <p:spPr>
          <a:xfrm>
            <a:off x="2960690" y="4649638"/>
            <a:ext cx="1266253" cy="1079686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9E849C-988C-902E-185C-620679CAABB8}"/>
              </a:ext>
            </a:extLst>
          </p:cNvPr>
          <p:cNvSpPr txBox="1"/>
          <p:nvPr/>
        </p:nvSpPr>
        <p:spPr>
          <a:xfrm>
            <a:off x="2048223" y="4573104"/>
            <a:ext cx="845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Victim</a:t>
            </a:r>
            <a:endParaRPr lang="en-P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D1F64-EA64-F1F7-3A17-D7D442A0DC77}"/>
              </a:ext>
            </a:extLst>
          </p:cNvPr>
          <p:cNvSpPr txBox="1"/>
          <p:nvPr/>
        </p:nvSpPr>
        <p:spPr>
          <a:xfrm>
            <a:off x="6440057" y="4576595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point</a:t>
            </a:r>
            <a:endParaRPr lang="en-P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4D810D-DF8F-F8A0-BFC8-647A6D660EA2}"/>
              </a:ext>
            </a:extLst>
          </p:cNvPr>
          <p:cNvSpPr txBox="1"/>
          <p:nvPr/>
        </p:nvSpPr>
        <p:spPr>
          <a:xfrm>
            <a:off x="2132373" y="3523695"/>
            <a:ext cx="605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MAC A</a:t>
            </a:r>
            <a:endParaRPr lang="en-PK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8A0CDA-E564-A443-91DD-C79287352DF2}"/>
              </a:ext>
            </a:extLst>
          </p:cNvPr>
          <p:cNvCxnSpPr>
            <a:cxnSpLocks/>
          </p:cNvCxnSpPr>
          <p:nvPr/>
        </p:nvCxnSpPr>
        <p:spPr>
          <a:xfrm flipH="1">
            <a:off x="5127046" y="4649638"/>
            <a:ext cx="1352343" cy="103561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E051F8A-11A7-9E43-D644-1388FD4A1DEB}"/>
              </a:ext>
            </a:extLst>
          </p:cNvPr>
          <p:cNvSpPr txBox="1"/>
          <p:nvPr/>
        </p:nvSpPr>
        <p:spPr>
          <a:xfrm>
            <a:off x="4226942" y="6498145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Attacker </a:t>
            </a:r>
            <a:endParaRPr lang="en-PK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EFA2F5-B874-0DDA-AC55-18EE0D882E43}"/>
              </a:ext>
            </a:extLst>
          </p:cNvPr>
          <p:cNvSpPr txBox="1"/>
          <p:nvPr/>
        </p:nvSpPr>
        <p:spPr>
          <a:xfrm rot="19261875">
            <a:off x="5031846" y="4897419"/>
            <a:ext cx="133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Sniffing traffic </a:t>
            </a:r>
            <a:endParaRPr lang="en-PK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4AE3A9-E3A4-E2B7-01D7-F61C3838D8DE}"/>
              </a:ext>
            </a:extLst>
          </p:cNvPr>
          <p:cNvSpPr txBox="1"/>
          <p:nvPr/>
        </p:nvSpPr>
        <p:spPr>
          <a:xfrm rot="2572099">
            <a:off x="3101288" y="4990679"/>
            <a:ext cx="133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Sniffing traffic</a:t>
            </a:r>
            <a:endParaRPr lang="en-PK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CD31E0-531E-97D6-6D6E-845BB81613C5}"/>
              </a:ext>
            </a:extLst>
          </p:cNvPr>
          <p:cNvSpPr/>
          <p:nvPr/>
        </p:nvSpPr>
        <p:spPr>
          <a:xfrm>
            <a:off x="6034764" y="5476272"/>
            <a:ext cx="325233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 A : Rerandomized address unless reconnected manually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3343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DA5AA0E-0070-318F-49F0-8F6054D9C333}"/>
              </a:ext>
            </a:extLst>
          </p:cNvPr>
          <p:cNvSpPr/>
          <p:nvPr/>
        </p:nvSpPr>
        <p:spPr>
          <a:xfrm>
            <a:off x="6530196" y="5555411"/>
            <a:ext cx="4304581" cy="90409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A5ED3-52BC-C3AF-0E1C-D3E7BD40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1D5A03-FEB3-CB6A-78BF-E2ABBBAD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796" y="3529518"/>
            <a:ext cx="714475" cy="847843"/>
          </a:xfrm>
          <a:prstGeom prst="rect">
            <a:avLst/>
          </a:prstGeom>
        </p:spPr>
      </p:pic>
      <p:pic>
        <p:nvPicPr>
          <p:cNvPr id="5" name="Content Placeholder 4" descr="Wireless router with solid fill">
            <a:extLst>
              <a:ext uri="{FF2B5EF4-FFF2-40B4-BE49-F238E27FC236}">
                <a16:creationId xmlns:a16="http://schemas.microsoft.com/office/drawing/2014/main" id="{2D03C747-3A25-EF0F-E0C2-93C73C7D63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5118" y="1815682"/>
            <a:ext cx="1212566" cy="1212566"/>
          </a:xfrm>
          <a:prstGeom prst="rect">
            <a:avLst/>
          </a:prstGeom>
        </p:spPr>
      </p:pic>
      <p:pic>
        <p:nvPicPr>
          <p:cNvPr id="6" name="Graphic 5" descr="Television with solid fill">
            <a:extLst>
              <a:ext uri="{FF2B5EF4-FFF2-40B4-BE49-F238E27FC236}">
                <a16:creationId xmlns:a16="http://schemas.microsoft.com/office/drawing/2014/main" id="{E78A6344-FFC5-1E06-4CC9-C4F4C09A8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697" y="446534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E73621-8A06-6F58-E294-1BC6775500A4}"/>
              </a:ext>
            </a:extLst>
          </p:cNvPr>
          <p:cNvSpPr txBox="1"/>
          <p:nvPr/>
        </p:nvSpPr>
        <p:spPr>
          <a:xfrm>
            <a:off x="1948668" y="2926886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point</a:t>
            </a:r>
            <a:endParaRPr lang="en-PK" dirty="0"/>
          </a:p>
        </p:txBody>
      </p:sp>
      <p:pic>
        <p:nvPicPr>
          <p:cNvPr id="15" name="Graphic 14" descr="Television with solid fill">
            <a:extLst>
              <a:ext uri="{FF2B5EF4-FFF2-40B4-BE49-F238E27FC236}">
                <a16:creationId xmlns:a16="http://schemas.microsoft.com/office/drawing/2014/main" id="{FEA0FBA8-A1D1-5FAF-8FED-FFE0D235B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4201" y="4465345"/>
            <a:ext cx="914400" cy="914400"/>
          </a:xfrm>
          <a:prstGeom prst="rect">
            <a:avLst/>
          </a:prstGeom>
        </p:spPr>
      </p:pic>
      <p:pic>
        <p:nvPicPr>
          <p:cNvPr id="16" name="Graphic 15" descr="Television with solid fill">
            <a:extLst>
              <a:ext uri="{FF2B5EF4-FFF2-40B4-BE49-F238E27FC236}">
                <a16:creationId xmlns:a16="http://schemas.microsoft.com/office/drawing/2014/main" id="{E7D877BB-66AC-A831-19C3-AAEF2D804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0407" y="4467065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E2A73D-1572-3A52-2AF6-34EFD588C719}"/>
              </a:ext>
            </a:extLst>
          </p:cNvPr>
          <p:cNvSpPr txBox="1"/>
          <p:nvPr/>
        </p:nvSpPr>
        <p:spPr>
          <a:xfrm>
            <a:off x="318137" y="5283063"/>
            <a:ext cx="110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Station A</a:t>
            </a:r>
            <a:endParaRPr lang="en-PK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CF8BB2-FA06-89E1-3161-2A3F4E5B032D}"/>
              </a:ext>
            </a:extLst>
          </p:cNvPr>
          <p:cNvSpPr txBox="1"/>
          <p:nvPr/>
        </p:nvSpPr>
        <p:spPr>
          <a:xfrm>
            <a:off x="2163844" y="5283063"/>
            <a:ext cx="1108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Station B</a:t>
            </a:r>
            <a:endParaRPr lang="en-PK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25917-F17D-CAF3-0D85-7624CD3F4025}"/>
              </a:ext>
            </a:extLst>
          </p:cNvPr>
          <p:cNvSpPr txBox="1"/>
          <p:nvPr/>
        </p:nvSpPr>
        <p:spPr>
          <a:xfrm>
            <a:off x="4009551" y="5256620"/>
            <a:ext cx="1235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Station C</a:t>
            </a:r>
            <a:endParaRPr lang="en-PK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ADFB47-B47D-B6D4-60B4-237874A2266F}"/>
              </a:ext>
            </a:extLst>
          </p:cNvPr>
          <p:cNvCxnSpPr/>
          <p:nvPr/>
        </p:nvCxnSpPr>
        <p:spPr>
          <a:xfrm flipV="1">
            <a:off x="903727" y="3296218"/>
            <a:ext cx="1044941" cy="10811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441AD2-AC49-537E-A7A1-1BC719E77C12}"/>
              </a:ext>
            </a:extLst>
          </p:cNvPr>
          <p:cNvCxnSpPr>
            <a:cxnSpLocks/>
          </p:cNvCxnSpPr>
          <p:nvPr/>
        </p:nvCxnSpPr>
        <p:spPr>
          <a:xfrm flipV="1">
            <a:off x="2681401" y="3373984"/>
            <a:ext cx="0" cy="109087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EEF0EC-9124-97DB-C35A-D218DF5E079F}"/>
              </a:ext>
            </a:extLst>
          </p:cNvPr>
          <p:cNvCxnSpPr>
            <a:cxnSpLocks/>
          </p:cNvCxnSpPr>
          <p:nvPr/>
        </p:nvCxnSpPr>
        <p:spPr>
          <a:xfrm flipH="1" flipV="1">
            <a:off x="3242839" y="3337929"/>
            <a:ext cx="1214126" cy="112285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D95AF75-F2F4-B131-FA6B-81420AF3B35D}"/>
              </a:ext>
            </a:extLst>
          </p:cNvPr>
          <p:cNvSpPr/>
          <p:nvPr/>
        </p:nvSpPr>
        <p:spPr>
          <a:xfrm>
            <a:off x="8400050" y="724618"/>
            <a:ext cx="3367515" cy="4502989"/>
          </a:xfrm>
          <a:prstGeom prst="roundRect">
            <a:avLst/>
          </a:prstGeom>
          <a:solidFill>
            <a:srgbClr val="2A8DBE"/>
          </a:solidFill>
          <a:effectLst>
            <a:innerShdw blurRad="63500" dist="50800" dir="18900000">
              <a:prstClr val="black">
                <a:alpha val="50000"/>
              </a:prstClr>
            </a:innerShdw>
            <a:softEdge rad="63500"/>
          </a:effectLst>
          <a:scene3d>
            <a:camera prst="perspectiveLef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177DB4-8C1F-69A6-B919-961A83F9E115}"/>
              </a:ext>
            </a:extLst>
          </p:cNvPr>
          <p:cNvSpPr txBox="1"/>
          <p:nvPr/>
        </p:nvSpPr>
        <p:spPr>
          <a:xfrm>
            <a:off x="8938415" y="1152618"/>
            <a:ext cx="3367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Implemented in NS3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Wi-Fi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IEEE 802.11g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YansWifiChannel</a:t>
            </a:r>
            <a:endParaRPr lang="en-US" dirty="0">
              <a:solidFill>
                <a:schemeClr val="bg1"/>
              </a:solidFill>
            </a:endParaRPr>
          </a:p>
          <a:p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30100F-8A98-A42D-A4AA-8B6FA2ACC9B6}"/>
              </a:ext>
            </a:extLst>
          </p:cNvPr>
          <p:cNvSpPr txBox="1"/>
          <p:nvPr/>
        </p:nvSpPr>
        <p:spPr>
          <a:xfrm>
            <a:off x="8938415" y="3137290"/>
            <a:ext cx="25168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Traffic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UDP traffic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1472-byte payload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 packet/sec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100 sec simulation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B1CBD5-6BD0-A5FB-FC31-81CBED5EDFEB}"/>
              </a:ext>
            </a:extLst>
          </p:cNvPr>
          <p:cNvSpPr txBox="1"/>
          <p:nvPr/>
        </p:nvSpPr>
        <p:spPr>
          <a:xfrm>
            <a:off x="6644880" y="5705382"/>
            <a:ext cx="3965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YansWifiChannel</a:t>
            </a:r>
            <a:r>
              <a:rPr lang="en-US" dirty="0"/>
              <a:t> : provide realistic delays and propagation loss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43DC23B-EA38-D5A1-6A9F-A62E11286E69}"/>
              </a:ext>
            </a:extLst>
          </p:cNvPr>
          <p:cNvCxnSpPr>
            <a:cxnSpLocks/>
          </p:cNvCxnSpPr>
          <p:nvPr/>
        </p:nvCxnSpPr>
        <p:spPr>
          <a:xfrm flipH="1" flipV="1">
            <a:off x="3414134" y="2725947"/>
            <a:ext cx="2943534" cy="1164566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0A33714-931D-2A35-41BC-5FD2F88895A7}"/>
              </a:ext>
            </a:extLst>
          </p:cNvPr>
          <p:cNvSpPr/>
          <p:nvPr/>
        </p:nvSpPr>
        <p:spPr>
          <a:xfrm>
            <a:off x="4382219" y="1518249"/>
            <a:ext cx="3709358" cy="9040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Unique PKT shared with each station.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25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9B71-DECB-717C-6707-452D51F1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  <a:endParaRPr lang="en-PK" dirty="0"/>
          </a:p>
        </p:txBody>
      </p:sp>
      <p:pic>
        <p:nvPicPr>
          <p:cNvPr id="5" name="Content Placeholder 4" descr="Wireless router with solid fill">
            <a:extLst>
              <a:ext uri="{FF2B5EF4-FFF2-40B4-BE49-F238E27FC236}">
                <a16:creationId xmlns:a16="http://schemas.microsoft.com/office/drawing/2014/main" id="{8CF47340-94CC-6D78-C978-893C4F5F3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759" y="4351996"/>
            <a:ext cx="841148" cy="816943"/>
          </a:xfrm>
        </p:spPr>
      </p:pic>
      <p:pic>
        <p:nvPicPr>
          <p:cNvPr id="7" name="Graphic 6" descr="Television with solid fill">
            <a:extLst>
              <a:ext uri="{FF2B5EF4-FFF2-40B4-BE49-F238E27FC236}">
                <a16:creationId xmlns:a16="http://schemas.microsoft.com/office/drawing/2014/main" id="{4C6409E5-373F-2E0C-42D3-220E6A1B43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96" y="5410200"/>
            <a:ext cx="661709" cy="6426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461F4B-FD4D-2F09-41A9-F85302C54C0E}"/>
              </a:ext>
            </a:extLst>
          </p:cNvPr>
          <p:cNvSpPr txBox="1"/>
          <p:nvPr/>
        </p:nvSpPr>
        <p:spPr>
          <a:xfrm>
            <a:off x="677334" y="1437676"/>
            <a:ext cx="54738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  <a:buFont typeface="+mj-lt"/>
              <a:buAutoNum type="arabicPeriod"/>
            </a:pPr>
            <a:r>
              <a:rPr lang="en-US" dirty="0"/>
              <a:t>AP and STA share PTK after WPA3 authentication. </a:t>
            </a:r>
          </a:p>
          <a:p>
            <a:pPr>
              <a:buClr>
                <a:schemeClr val="accent1"/>
              </a:buClr>
              <a:buFont typeface="+mj-lt"/>
              <a:buAutoNum type="arabicPeriod"/>
            </a:pPr>
            <a:r>
              <a:rPr lang="en-US" dirty="0"/>
              <a:t>Both compute synchronized ephemeral MAC addresses using PKT.</a:t>
            </a:r>
          </a:p>
          <a:p>
            <a:pPr>
              <a:buClr>
                <a:schemeClr val="accent1"/>
              </a:buClr>
              <a:buFont typeface="+mj-lt"/>
              <a:buAutoNum type="arabicPeriod"/>
            </a:pPr>
            <a:r>
              <a:rPr lang="en-US" dirty="0"/>
              <a:t>MACs change periodically after interval T  during communication.</a:t>
            </a:r>
          </a:p>
          <a:p>
            <a:pPr>
              <a:buClr>
                <a:schemeClr val="accent1"/>
              </a:buClr>
              <a:buFont typeface="+mj-lt"/>
              <a:buAutoNum type="arabicPeriod"/>
            </a:pPr>
            <a:r>
              <a:rPr lang="en-US" dirty="0"/>
              <a:t>SN reset with MAC change 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070E2-2ABB-792D-7531-619D54964DD8}"/>
              </a:ext>
            </a:extLst>
          </p:cNvPr>
          <p:cNvCxnSpPr>
            <a:cxnSpLocks/>
          </p:cNvCxnSpPr>
          <p:nvPr/>
        </p:nvCxnSpPr>
        <p:spPr>
          <a:xfrm>
            <a:off x="2245128" y="4369249"/>
            <a:ext cx="47696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2B037FD-C5C6-486D-2C13-3696F4CE02B1}"/>
              </a:ext>
            </a:extLst>
          </p:cNvPr>
          <p:cNvSpPr txBox="1"/>
          <p:nvPr/>
        </p:nvSpPr>
        <p:spPr>
          <a:xfrm>
            <a:off x="2340016" y="4061472"/>
            <a:ext cx="4671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1T              2T             3T                 4T                5T</a:t>
            </a:r>
            <a:endParaRPr lang="en-PK" sz="14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B2AAEF-B068-325E-4402-1C91E3E0F3E7}"/>
              </a:ext>
            </a:extLst>
          </p:cNvPr>
          <p:cNvSpPr txBox="1"/>
          <p:nvPr/>
        </p:nvSpPr>
        <p:spPr>
          <a:xfrm>
            <a:off x="2219250" y="4677026"/>
            <a:ext cx="4938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MAC A       Mac B          MAC C            MAC D          MAC E            </a:t>
            </a:r>
            <a:endParaRPr lang="en-PK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196C6-FF67-207A-ED63-203EB255E2DF}"/>
              </a:ext>
            </a:extLst>
          </p:cNvPr>
          <p:cNvSpPr txBox="1"/>
          <p:nvPr/>
        </p:nvSpPr>
        <p:spPr>
          <a:xfrm>
            <a:off x="2219250" y="5437226"/>
            <a:ext cx="47962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MAC A       Mac B          MAC C            MAC D          MAC E            </a:t>
            </a:r>
            <a:endParaRPr lang="en-PK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2B5CCEB-64B1-C442-62EB-C10E88820847}"/>
              </a:ext>
            </a:extLst>
          </p:cNvPr>
          <p:cNvCxnSpPr>
            <a:cxnSpLocks/>
          </p:cNvCxnSpPr>
          <p:nvPr/>
        </p:nvCxnSpPr>
        <p:spPr>
          <a:xfrm>
            <a:off x="2878150" y="4832589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CD78B5-7E93-18D8-CDA7-5B33BE39A27F}"/>
              </a:ext>
            </a:extLst>
          </p:cNvPr>
          <p:cNvCxnSpPr>
            <a:cxnSpLocks/>
          </p:cNvCxnSpPr>
          <p:nvPr/>
        </p:nvCxnSpPr>
        <p:spPr>
          <a:xfrm>
            <a:off x="3814775" y="4833008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C89C2B-07AE-B6FA-3DF7-C234494EE944}"/>
              </a:ext>
            </a:extLst>
          </p:cNvPr>
          <p:cNvCxnSpPr>
            <a:cxnSpLocks/>
          </p:cNvCxnSpPr>
          <p:nvPr/>
        </p:nvCxnSpPr>
        <p:spPr>
          <a:xfrm>
            <a:off x="4891100" y="4832589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FECCB6F-6824-0A27-5C75-407BC32BDF96}"/>
              </a:ext>
            </a:extLst>
          </p:cNvPr>
          <p:cNvCxnSpPr>
            <a:cxnSpLocks/>
          </p:cNvCxnSpPr>
          <p:nvPr/>
        </p:nvCxnSpPr>
        <p:spPr>
          <a:xfrm>
            <a:off x="5986475" y="4842533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DD03F6-7360-D99E-9E47-38CBDAFF0487}"/>
              </a:ext>
            </a:extLst>
          </p:cNvPr>
          <p:cNvCxnSpPr>
            <a:cxnSpLocks/>
          </p:cNvCxnSpPr>
          <p:nvPr/>
        </p:nvCxnSpPr>
        <p:spPr>
          <a:xfrm>
            <a:off x="2878150" y="5597764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6F0A52-85E1-8959-2A86-99B8FD9988A8}"/>
              </a:ext>
            </a:extLst>
          </p:cNvPr>
          <p:cNvCxnSpPr>
            <a:cxnSpLocks/>
          </p:cNvCxnSpPr>
          <p:nvPr/>
        </p:nvCxnSpPr>
        <p:spPr>
          <a:xfrm>
            <a:off x="3814775" y="5597764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E6A1CA-C30F-E806-F4D9-3F2EC20AC36E}"/>
              </a:ext>
            </a:extLst>
          </p:cNvPr>
          <p:cNvCxnSpPr>
            <a:cxnSpLocks/>
          </p:cNvCxnSpPr>
          <p:nvPr/>
        </p:nvCxnSpPr>
        <p:spPr>
          <a:xfrm>
            <a:off x="4891100" y="5598183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A50DBD-5269-0126-5B6D-7EBDFE4AFDC8}"/>
              </a:ext>
            </a:extLst>
          </p:cNvPr>
          <p:cNvCxnSpPr>
            <a:cxnSpLocks/>
          </p:cNvCxnSpPr>
          <p:nvPr/>
        </p:nvCxnSpPr>
        <p:spPr>
          <a:xfrm>
            <a:off x="5986475" y="5623164"/>
            <a:ext cx="20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B02CDBC-FABB-77EF-BA18-1BC1093506F2}"/>
              </a:ext>
            </a:extLst>
          </p:cNvPr>
          <p:cNvSpPr/>
          <p:nvPr/>
        </p:nvSpPr>
        <p:spPr>
          <a:xfrm>
            <a:off x="8665430" y="4514674"/>
            <a:ext cx="3200400" cy="2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PKT = Pairwise Transient Key</a:t>
            </a:r>
          </a:p>
          <a:p>
            <a:r>
              <a:rPr lang="en-US" dirty="0"/>
              <a:t>AP = Access Point</a:t>
            </a:r>
          </a:p>
          <a:p>
            <a:r>
              <a:rPr lang="en-US" dirty="0"/>
              <a:t>STA = Station </a:t>
            </a:r>
          </a:p>
          <a:p>
            <a:r>
              <a:rPr lang="en-US" dirty="0"/>
              <a:t>SN = sequence Number</a:t>
            </a:r>
          </a:p>
          <a:p>
            <a:r>
              <a:rPr lang="en-US" dirty="0"/>
              <a:t>P(T)= time relation</a:t>
            </a:r>
          </a:p>
          <a:p>
            <a:r>
              <a:rPr lang="en-US" dirty="0"/>
              <a:t>P(F|T) = </a:t>
            </a:r>
            <a:r>
              <a:rPr lang="en-US" dirty="0" err="1"/>
              <a:t>Trafficflow</a:t>
            </a:r>
            <a:endParaRPr lang="en-US" dirty="0"/>
          </a:p>
          <a:p>
            <a:r>
              <a:rPr lang="en-US" dirty="0"/>
              <a:t>P(S|F,T)=SN Time and flow relation</a:t>
            </a:r>
            <a:endParaRPr lang="en-PK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C772C3-EDAE-A818-1718-E77032B797F5}"/>
              </a:ext>
            </a:extLst>
          </p:cNvPr>
          <p:cNvSpPr/>
          <p:nvPr/>
        </p:nvSpPr>
        <p:spPr>
          <a:xfrm>
            <a:off x="677334" y="3719993"/>
            <a:ext cx="1436606" cy="261903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2060"/>
                </a:solidFill>
              </a:rPr>
              <a:t>Where T= 30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95A776-DA72-2425-F42A-EBCA3E9A1ADD}"/>
              </a:ext>
            </a:extLst>
          </p:cNvPr>
          <p:cNvSpPr txBox="1"/>
          <p:nvPr/>
        </p:nvSpPr>
        <p:spPr>
          <a:xfrm>
            <a:off x="6642340" y="1530009"/>
            <a:ext cx="36662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A passive attacker can: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sniff frames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observe MAC transitions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analyze timing patterns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correlate traffic-flow behavior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48AD54E-3E48-515A-B8CE-AA976D7B6CEF}"/>
              </a:ext>
            </a:extLst>
          </p:cNvPr>
          <p:cNvSpPr/>
          <p:nvPr/>
        </p:nvSpPr>
        <p:spPr>
          <a:xfrm>
            <a:off x="8503094" y="4123259"/>
            <a:ext cx="2510287" cy="39141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Abbreviations</a:t>
            </a:r>
            <a:endParaRPr lang="en-PK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99BEF43-A320-5710-20CC-252B867518C7}"/>
              </a:ext>
            </a:extLst>
          </p:cNvPr>
          <p:cNvSpPr/>
          <p:nvPr/>
        </p:nvSpPr>
        <p:spPr>
          <a:xfrm>
            <a:off x="2219250" y="6133381"/>
            <a:ext cx="4362705" cy="36694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 Rotation Time Predictable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F5825-6461-4919-31FA-7B7CE483B942}"/>
              </a:ext>
            </a:extLst>
          </p:cNvPr>
          <p:cNvSpPr txBox="1"/>
          <p:nvPr/>
        </p:nvSpPr>
        <p:spPr>
          <a:xfrm>
            <a:off x="7076758" y="3211238"/>
            <a:ext cx="3099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P​=P(T)×P(F∣T)×P(S∣T,F)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80971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A9D6F33F-29F4-AC59-873C-C5F03343C7BD}"/>
              </a:ext>
            </a:extLst>
          </p:cNvPr>
          <p:cNvSpPr/>
          <p:nvPr/>
        </p:nvSpPr>
        <p:spPr>
          <a:xfrm>
            <a:off x="7799367" y="513695"/>
            <a:ext cx="4372713" cy="50881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6E0C59-4543-5E3F-B678-3EF241DBBA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13691" y="1615690"/>
            <a:ext cx="1008609" cy="39834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473DE-D45A-B866-134E-1188BF99C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60" y="513695"/>
            <a:ext cx="8596668" cy="1320800"/>
          </a:xfrm>
        </p:spPr>
        <p:txBody>
          <a:bodyPr/>
          <a:lstStyle/>
          <a:p>
            <a:r>
              <a:rPr lang="en-US" dirty="0"/>
              <a:t>ALGORITHMS : SAS-J &amp; MIRAGE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160C7-1683-281A-0FCE-6B567E5FF2F5}"/>
              </a:ext>
            </a:extLst>
          </p:cNvPr>
          <p:cNvSpPr txBox="1"/>
          <p:nvPr/>
        </p:nvSpPr>
        <p:spPr>
          <a:xfrm>
            <a:off x="7884662" y="1208423"/>
            <a:ext cx="60998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vMac0 = Hash(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BaseMac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 + PKT +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cycleIndex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 + "ID_0“)</a:t>
            </a: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vMac1 = Hash(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BaseMac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 + PKT +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cycleIndex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 + "ID_1")</a:t>
            </a: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Packet →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vMac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[toggle]</a:t>
            </a: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</a:b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toggle = 1 – toggle</a:t>
            </a:r>
          </a:p>
          <a:p>
            <a:pPr rtl="0">
              <a:buNone/>
            </a:pP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RoundRobinDispacther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3AE51C-492C-D7AF-C7E5-4F7E8C5D6902}"/>
              </a:ext>
            </a:extLst>
          </p:cNvPr>
          <p:cNvSpPr txBox="1"/>
          <p:nvPr/>
        </p:nvSpPr>
        <p:spPr>
          <a:xfrm>
            <a:off x="7884662" y="3784417"/>
            <a:ext cx="48776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Seed = Hash(PTK || CycleIndex)</a:t>
            </a:r>
          </a:p>
          <a:p>
            <a:r>
              <a:rPr lang="en-US" b="1" dirty="0" err="1">
                <a:latin typeface="Courier New" panose="02070309020205020404" pitchFamily="49" charset="0"/>
              </a:rPr>
              <a:t>T_i</a:t>
            </a:r>
            <a:r>
              <a:rPr lang="en-US" b="1" dirty="0">
                <a:latin typeface="Courier New" panose="02070309020205020404" pitchFamily="49" charset="0"/>
              </a:rPr>
              <a:t> = Random(Seed, 15s, 45s)</a:t>
            </a:r>
          </a:p>
          <a:p>
            <a:r>
              <a:rPr lang="en-US" b="1" dirty="0" err="1">
                <a:latin typeface="Courier New" panose="02070309020205020404" pitchFamily="49" charset="0"/>
              </a:rPr>
              <a:t>NextRotation</a:t>
            </a:r>
            <a:r>
              <a:rPr lang="en-US" b="1" dirty="0">
                <a:latin typeface="Courier New" panose="02070309020205020404" pitchFamily="49" charset="0"/>
              </a:rPr>
              <a:t>= </a:t>
            </a:r>
            <a:r>
              <a:rPr lang="en-US" b="1" dirty="0" err="1">
                <a:latin typeface="Courier New" panose="02070309020205020404" pitchFamily="49" charset="0"/>
              </a:rPr>
              <a:t>CurrentTime</a:t>
            </a:r>
            <a:r>
              <a:rPr lang="en-US" b="1" dirty="0">
                <a:latin typeface="Courier New" panose="02070309020205020404" pitchFamily="49" charset="0"/>
              </a:rPr>
              <a:t> +</a:t>
            </a:r>
            <a:r>
              <a:rPr lang="en-US" b="1" dirty="0" err="1">
                <a:latin typeface="Courier New" panose="02070309020205020404" pitchFamily="49" charset="0"/>
              </a:rPr>
              <a:t>T_i</a:t>
            </a:r>
            <a:endParaRPr lang="en-US" b="1" dirty="0">
              <a:latin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</a:rPr>
              <a:t>Sn</a:t>
            </a:r>
            <a:r>
              <a:rPr lang="en-US" b="1" baseline="-25000" dirty="0" err="1">
                <a:latin typeface="Courier New" panose="02070309020205020404" pitchFamily="49" charset="0"/>
              </a:rPr>
              <a:t>masked</a:t>
            </a:r>
            <a:r>
              <a:rPr lang="en-US" b="1" baseline="-25000" dirty="0"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=(</a:t>
            </a:r>
            <a:r>
              <a:rPr lang="en-US" b="1" dirty="0" err="1">
                <a:latin typeface="Courier New" panose="02070309020205020404" pitchFamily="49" charset="0"/>
              </a:rPr>
              <a:t>Sn</a:t>
            </a:r>
            <a:r>
              <a:rPr lang="en-US" b="1" baseline="-25000" dirty="0" err="1">
                <a:latin typeface="Courier New" panose="02070309020205020404" pitchFamily="49" charset="0"/>
              </a:rPr>
              <a:t>curr</a:t>
            </a:r>
            <a:r>
              <a:rPr lang="en-US" b="1" baseline="-25000" dirty="0"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– </a:t>
            </a:r>
            <a:r>
              <a:rPr lang="en-US" b="1" dirty="0" err="1">
                <a:latin typeface="Courier New" panose="02070309020205020404" pitchFamily="49" charset="0"/>
              </a:rPr>
              <a:t>Sn</a:t>
            </a:r>
            <a:r>
              <a:rPr lang="en-US" b="1" baseline="-25000" dirty="0" err="1">
                <a:latin typeface="Courier New" panose="02070309020205020404" pitchFamily="49" charset="0"/>
              </a:rPr>
              <a:t>offset</a:t>
            </a:r>
            <a:r>
              <a:rPr lang="en-US" b="1" dirty="0">
                <a:latin typeface="Courier New" panose="02070309020205020404" pitchFamily="49" charset="0"/>
              </a:rPr>
              <a:t>)mod4096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09774-6549-4F0A-850B-4CADD3EAEC55}"/>
              </a:ext>
            </a:extLst>
          </p:cNvPr>
          <p:cNvSpPr txBox="1">
            <a:spLocks/>
          </p:cNvSpPr>
          <p:nvPr/>
        </p:nvSpPr>
        <p:spPr>
          <a:xfrm>
            <a:off x="2413692" y="1644706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D69D4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MAC[0]</a:t>
            </a:r>
            <a:endParaRPr lang="en-PK" b="1" dirty="0">
              <a:solidFill>
                <a:srgbClr val="ED69D4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1B9154-DE96-A110-C0C9-BEA3B06BB6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3692" y="2233742"/>
            <a:ext cx="1008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MAC[1]</a:t>
            </a:r>
            <a:endParaRPr lang="en-PK" b="1" dirty="0">
              <a:solidFill>
                <a:srgbClr val="00B05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59F36A-B3CB-DA65-0934-FCC831B04C1F}"/>
              </a:ext>
            </a:extLst>
          </p:cNvPr>
          <p:cNvSpPr>
            <a:spLocks/>
          </p:cNvSpPr>
          <p:nvPr/>
        </p:nvSpPr>
        <p:spPr>
          <a:xfrm>
            <a:off x="2437102" y="2225952"/>
            <a:ext cx="1008609" cy="398347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BF9FD8-CFEA-5BD6-74A9-BBF2A015D1FD}"/>
              </a:ext>
            </a:extLst>
          </p:cNvPr>
          <p:cNvCxnSpPr>
            <a:cxnSpLocks/>
          </p:cNvCxnSpPr>
          <p:nvPr/>
        </p:nvCxnSpPr>
        <p:spPr>
          <a:xfrm>
            <a:off x="3506680" y="1829372"/>
            <a:ext cx="295626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E07FD4-3074-A09B-A96B-A3A205756550}"/>
              </a:ext>
            </a:extLst>
          </p:cNvPr>
          <p:cNvCxnSpPr>
            <a:cxnSpLocks/>
          </p:cNvCxnSpPr>
          <p:nvPr/>
        </p:nvCxnSpPr>
        <p:spPr>
          <a:xfrm flipV="1">
            <a:off x="3506680" y="2418408"/>
            <a:ext cx="2956264" cy="67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1" name="Content Placeholder 4" descr="Wireless router with solid fill">
            <a:extLst>
              <a:ext uri="{FF2B5EF4-FFF2-40B4-BE49-F238E27FC236}">
                <a16:creationId xmlns:a16="http://schemas.microsoft.com/office/drawing/2014/main" id="{5CFDCF63-8F56-4F09-6E97-D17D4EB20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2944" y="1455017"/>
            <a:ext cx="1253677" cy="1253677"/>
          </a:xfrm>
          <a:prstGeom prst="rect">
            <a:avLst/>
          </a:prstGeom>
        </p:spPr>
      </p:pic>
      <p:pic>
        <p:nvPicPr>
          <p:cNvPr id="42" name="Graphic 41" descr="Television with solid fill">
            <a:extLst>
              <a:ext uri="{FF2B5EF4-FFF2-40B4-BE49-F238E27FC236}">
                <a16:creationId xmlns:a16="http://schemas.microsoft.com/office/drawing/2014/main" id="{A7B9CCDA-A9A0-94A4-EF6B-966EF2D18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84" y="1607261"/>
            <a:ext cx="1101433" cy="110143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31A4517-0BAF-E735-DD97-BB9B9C635FD9}"/>
              </a:ext>
            </a:extLst>
          </p:cNvPr>
          <p:cNvSpPr/>
          <p:nvPr/>
        </p:nvSpPr>
        <p:spPr>
          <a:xfrm>
            <a:off x="7876564" y="5920786"/>
            <a:ext cx="4218317" cy="70826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Both AP and Station Compute new Address with same inputs. Therefore </a:t>
            </a:r>
            <a:endParaRPr lang="en-PK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86B6BA-89DF-DF9A-BF4D-74136F218472}"/>
              </a:ext>
            </a:extLst>
          </p:cNvPr>
          <p:cNvSpPr/>
          <p:nvPr/>
        </p:nvSpPr>
        <p:spPr>
          <a:xfrm>
            <a:off x="2139017" y="3429000"/>
            <a:ext cx="4112620" cy="121509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2060"/>
                </a:solidFill>
              </a:rPr>
              <a:t>SAS-J (Secure adaptive </a:t>
            </a:r>
            <a:r>
              <a:rPr lang="en-US" sz="1600" dirty="0" err="1">
                <a:solidFill>
                  <a:srgbClr val="002060"/>
                </a:solidFill>
              </a:rPr>
              <a:t>Synchornization</a:t>
            </a:r>
            <a:r>
              <a:rPr lang="en-US" sz="1600" dirty="0">
                <a:solidFill>
                  <a:srgbClr val="002060"/>
                </a:solidFill>
              </a:rPr>
              <a:t> with Jitter )</a:t>
            </a:r>
          </a:p>
          <a:p>
            <a:r>
              <a:rPr lang="en-US" sz="1600" dirty="0">
                <a:solidFill>
                  <a:srgbClr val="002060"/>
                </a:solidFill>
              </a:rPr>
              <a:t>Interval T is pseudo random </a:t>
            </a:r>
            <a:r>
              <a:rPr lang="en-US" sz="1600" b="1" dirty="0">
                <a:solidFill>
                  <a:srgbClr val="002060"/>
                </a:solidFill>
              </a:rPr>
              <a:t>15s &lt;= T &lt;= 45s </a:t>
            </a:r>
            <a:r>
              <a:rPr lang="en-US" sz="1600" dirty="0">
                <a:solidFill>
                  <a:srgbClr val="002060"/>
                </a:solidFill>
              </a:rPr>
              <a:t>(instead of constant 30s  )</a:t>
            </a:r>
            <a:r>
              <a:rPr lang="en-US" sz="1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BDD223-C7C6-BE3E-7940-61757F007A1F}"/>
              </a:ext>
            </a:extLst>
          </p:cNvPr>
          <p:cNvSpPr txBox="1"/>
          <p:nvPr/>
        </p:nvSpPr>
        <p:spPr>
          <a:xfrm>
            <a:off x="1223382" y="270869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Station</a:t>
            </a:r>
            <a:endParaRPr lang="en-PK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9E0BCA-E5F5-BCFF-E6EA-32885B844881}"/>
              </a:ext>
            </a:extLst>
          </p:cNvPr>
          <p:cNvSpPr txBox="1"/>
          <p:nvPr/>
        </p:nvSpPr>
        <p:spPr>
          <a:xfrm>
            <a:off x="6368689" y="2665812"/>
            <a:ext cx="1547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Access Point</a:t>
            </a:r>
            <a:endParaRPr lang="en-PK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DEB90F-6790-559D-EF7C-10AE805A333F}"/>
              </a:ext>
            </a:extLst>
          </p:cNvPr>
          <p:cNvSpPr txBox="1"/>
          <p:nvPr/>
        </p:nvSpPr>
        <p:spPr>
          <a:xfrm>
            <a:off x="7884662" y="3238082"/>
            <a:ext cx="1290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SAS-J </a:t>
            </a:r>
            <a:endParaRPr lang="en-PK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BCFD6-9524-BB25-0390-4D7066E02758}"/>
              </a:ext>
            </a:extLst>
          </p:cNvPr>
          <p:cNvSpPr txBox="1"/>
          <p:nvPr/>
        </p:nvSpPr>
        <p:spPr>
          <a:xfrm>
            <a:off x="7822778" y="589717"/>
            <a:ext cx="7026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C3C4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MIRAGE </a:t>
            </a:r>
            <a:endParaRPr kumimoji="0" lang="en-PK" sz="3200" b="0" i="0" u="none" strike="noStrike" kern="1200" cap="none" spc="0" normalizeH="0" baseline="0" noProof="0" dirty="0">
              <a:ln>
                <a:noFill/>
              </a:ln>
              <a:solidFill>
                <a:srgbClr val="2C3C43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A9D328-838A-7A4F-08C4-89CE4E8CD6A7}"/>
              </a:ext>
            </a:extLst>
          </p:cNvPr>
          <p:cNvSpPr txBox="1"/>
          <p:nvPr/>
        </p:nvSpPr>
        <p:spPr>
          <a:xfrm>
            <a:off x="3062796" y="1239427"/>
            <a:ext cx="347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T= 17s ---&gt; 41s ---&gt; 22s ---&gt; 35s</a:t>
            </a:r>
            <a:endParaRPr lang="en-PK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6605532-348F-E7A1-D20B-B083E8F3EDD9}"/>
              </a:ext>
            </a:extLst>
          </p:cNvPr>
          <p:cNvSpPr txBox="1"/>
          <p:nvPr/>
        </p:nvSpPr>
        <p:spPr>
          <a:xfrm>
            <a:off x="721723" y="4840778"/>
            <a:ext cx="6034184" cy="282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Cycle Index is the current MAC rotation cycle increments every rotation.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Sequence number stored and reset to 0.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sz="17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Datastream</a:t>
            </a:r>
            <a:r>
              <a:rPr lang="en-US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 split into 2 virtual MACs MAC[0] and MAC[1] alternate.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sz="1700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Packets alternate between two addresses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lvl="0" indent="-342900">
              <a:spcBef>
                <a:spcPts val="1000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57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2" grpId="0"/>
      <p:bldP spid="24" grpId="0"/>
      <p:bldP spid="28" grpId="0" animBg="1"/>
      <p:bldP spid="43" grpId="0" animBg="1"/>
      <p:bldP spid="46" grpId="0" animBg="1"/>
      <p:bldP spid="54" grpId="0"/>
      <p:bldP spid="64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2" name="Isosceles Triangle 21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50" y="1658064"/>
            <a:ext cx="4767159" cy="2979608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16355" y="1418317"/>
            <a:ext cx="4472939" cy="3355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D4F033-689D-0E0D-DC68-9DBA5278AE1B}"/>
              </a:ext>
            </a:extLst>
          </p:cNvPr>
          <p:cNvSpPr txBox="1"/>
          <p:nvPr/>
        </p:nvSpPr>
        <p:spPr>
          <a:xfrm>
            <a:off x="995621" y="530373"/>
            <a:ext cx="6103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RESULTS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21327-A8DC-1614-9A2F-93C3260CB351}"/>
              </a:ext>
            </a:extLst>
          </p:cNvPr>
          <p:cNvSpPr txBox="1"/>
          <p:nvPr/>
        </p:nvSpPr>
        <p:spPr>
          <a:xfrm>
            <a:off x="570381" y="4978018"/>
            <a:ext cx="45917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pseudo-random intervals (15–45s).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Randomized timing removes predictable temporal patterns.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Timing-based burst become harder</a:t>
            </a:r>
            <a:endParaRPr lang="en-PK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6349AF-F90F-1B95-2F66-C568CA9E91C2}"/>
              </a:ext>
            </a:extLst>
          </p:cNvPr>
          <p:cNvSpPr txBox="1"/>
          <p:nvPr/>
        </p:nvSpPr>
        <p:spPr>
          <a:xfrm>
            <a:off x="5316355" y="4978018"/>
            <a:ext cx="6103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US" dirty="0"/>
              <a:t>Average throughput remains stable.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US" dirty="0"/>
              <a:t>introduce negligible computational overhead. 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US" dirty="0"/>
              <a:t>Network performance not effected.</a:t>
            </a:r>
            <a:endParaRPr lang="en-P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Isosceles Triangle 21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109" y="3987864"/>
            <a:ext cx="3262744" cy="2716235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A23A84F-1685-EB14-8EF3-8E246E706F1C}"/>
              </a:ext>
            </a:extLst>
          </p:cNvPr>
          <p:cNvSpPr/>
          <p:nvPr/>
        </p:nvSpPr>
        <p:spPr>
          <a:xfrm>
            <a:off x="4729353" y="5148564"/>
            <a:ext cx="6401693" cy="15555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2867E9-A5E8-B9F5-5588-80125B1F7F57}"/>
              </a:ext>
            </a:extLst>
          </p:cNvPr>
          <p:cNvSpPr txBox="1"/>
          <p:nvPr/>
        </p:nvSpPr>
        <p:spPr>
          <a:xfrm>
            <a:off x="1151115" y="311689"/>
            <a:ext cx="6103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RESULTS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D7057-0BEC-57C8-3C37-47B059E37585}"/>
              </a:ext>
            </a:extLst>
          </p:cNvPr>
          <p:cNvSpPr txBox="1"/>
          <p:nvPr/>
        </p:nvSpPr>
        <p:spPr>
          <a:xfrm>
            <a:off x="4815677" y="5195220"/>
            <a:ext cx="61031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Before over the air rerandomization easily linkable due to session </a:t>
            </a:r>
            <a:r>
              <a:rPr lang="en-US" dirty="0" err="1">
                <a:solidFill>
                  <a:schemeClr val="bg1"/>
                </a:solidFill>
              </a:rPr>
              <a:t>persistance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Timing and behavioral correlation attacks unreliable.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attacker left with no reliable linkage signal for device tracking.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4AFC36-CA86-B9A9-FE19-1927AFA0B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6" y="1271629"/>
            <a:ext cx="3259216" cy="27162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6EA5C7-E865-F8F6-F1F4-565925539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077" y="1137390"/>
            <a:ext cx="7202158" cy="33913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A367D9-D750-14CD-2244-288028DA7977}"/>
              </a:ext>
            </a:extLst>
          </p:cNvPr>
          <p:cNvCxnSpPr/>
          <p:nvPr/>
        </p:nvCxnSpPr>
        <p:spPr>
          <a:xfrm>
            <a:off x="4910077" y="1137390"/>
            <a:ext cx="0" cy="3391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44ECC-4062-805E-2C2A-A12A5962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136" y="1020871"/>
            <a:ext cx="6960759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54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2578</TotalTime>
  <Words>510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ADLaM Display</vt:lpstr>
      <vt:lpstr>Aptos</vt:lpstr>
      <vt:lpstr>Arial</vt:lpstr>
      <vt:lpstr>Courier New</vt:lpstr>
      <vt:lpstr>Trebuchet MS</vt:lpstr>
      <vt:lpstr>Wingdings</vt:lpstr>
      <vt:lpstr>Wingdings 3</vt:lpstr>
      <vt:lpstr>Facet</vt:lpstr>
      <vt:lpstr>1_Facet</vt:lpstr>
      <vt:lpstr>Enhancing Runtime Wi-Fi  MAC Re-randomization</vt:lpstr>
      <vt:lpstr>INTRODUCTION</vt:lpstr>
      <vt:lpstr>SYSTEM MODEL</vt:lpstr>
      <vt:lpstr>PROBLEM FORMULATION</vt:lpstr>
      <vt:lpstr>ALGORITHMS : SAS-J &amp; MIRAGE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u2023509</dc:creator>
  <cp:lastModifiedBy>Hatim Warrior</cp:lastModifiedBy>
  <cp:revision>6</cp:revision>
  <dcterms:created xsi:type="dcterms:W3CDTF">2026-05-09T12:38:33Z</dcterms:created>
  <dcterms:modified xsi:type="dcterms:W3CDTF">2026-05-28T11:47:26Z</dcterms:modified>
</cp:coreProperties>
</file>